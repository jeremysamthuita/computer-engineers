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301" r:id="rId4"/>
    <p:sldId id="317" r:id="rId5"/>
    <p:sldId id="303" r:id="rId6"/>
    <p:sldId id="302" r:id="rId7"/>
    <p:sldId id="312" r:id="rId8"/>
    <p:sldId id="313" r:id="rId9"/>
    <p:sldId id="318" r:id="rId10"/>
    <p:sldId id="319" r:id="rId11"/>
    <p:sldId id="320" r:id="rId12"/>
    <p:sldId id="322" r:id="rId13"/>
    <p:sldId id="304" r:id="rId14"/>
    <p:sldId id="323" r:id="rId15"/>
    <p:sldId id="306" r:id="rId16"/>
    <p:sldId id="305" r:id="rId17"/>
    <p:sldId id="260" r:id="rId18"/>
    <p:sldId id="307" r:id="rId19"/>
    <p:sldId id="275" r:id="rId20"/>
    <p:sldId id="274" r:id="rId21"/>
    <p:sldId id="324" r:id="rId22"/>
    <p:sldId id="314" r:id="rId23"/>
    <p:sldId id="262" r:id="rId24"/>
    <p:sldId id="316" r:id="rId25"/>
    <p:sldId id="315" r:id="rId26"/>
    <p:sldId id="287" r:id="rId27"/>
    <p:sldId id="308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B3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C206592-135F-4E2C-8D87-ABC055D436D8}" type="doc">
      <dgm:prSet loTypeId="urn:microsoft.com/office/officeart/2005/8/layout/hList7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3D4CE13-567F-41FB-8B1C-E6E7FA066D8C}">
      <dgm:prSet/>
      <dgm:spPr/>
      <dgm:t>
        <a:bodyPr/>
        <a:lstStyle/>
        <a:p>
          <a:pPr rtl="0"/>
          <a:r>
            <a:rPr lang="en-US" dirty="0" smtClean="0"/>
            <a:t>INTRODUCES the Principle – V. 1</a:t>
          </a:r>
          <a:endParaRPr lang="en-US" dirty="0"/>
        </a:p>
      </dgm:t>
    </dgm:pt>
    <dgm:pt modelId="{781661E0-5C17-4C87-B727-E2018382EF05}" type="parTrans" cxnId="{D401DF06-AC34-4BC6-96B7-A92AF9D41039}">
      <dgm:prSet/>
      <dgm:spPr/>
      <dgm:t>
        <a:bodyPr/>
        <a:lstStyle/>
        <a:p>
          <a:endParaRPr lang="en-US"/>
        </a:p>
      </dgm:t>
    </dgm:pt>
    <dgm:pt modelId="{023AEB5E-E445-4091-B9AE-7DFAFB02B6BB}" type="sibTrans" cxnId="{D401DF06-AC34-4BC6-96B7-A92AF9D41039}">
      <dgm:prSet/>
      <dgm:spPr/>
      <dgm:t>
        <a:bodyPr/>
        <a:lstStyle/>
        <a:p>
          <a:endParaRPr lang="en-US"/>
        </a:p>
      </dgm:t>
    </dgm:pt>
    <dgm:pt modelId="{7E2D93E7-8DF1-43E8-B44A-BAD5208235F5}">
      <dgm:prSet/>
      <dgm:spPr/>
      <dgm:t>
        <a:bodyPr/>
        <a:lstStyle/>
        <a:p>
          <a:pPr rtl="0"/>
          <a:r>
            <a:rPr lang="en-US" smtClean="0"/>
            <a:t>ILLUSTRATES the Principle Vv. 2 – 4</a:t>
          </a:r>
          <a:endParaRPr lang="en-US"/>
        </a:p>
      </dgm:t>
    </dgm:pt>
    <dgm:pt modelId="{F04E6C58-0915-44E1-BE62-CDB7479CBF03}" type="parTrans" cxnId="{A39A66CC-0136-4D03-8047-AC70AD76A097}">
      <dgm:prSet/>
      <dgm:spPr/>
      <dgm:t>
        <a:bodyPr/>
        <a:lstStyle/>
        <a:p>
          <a:endParaRPr lang="en-US"/>
        </a:p>
      </dgm:t>
    </dgm:pt>
    <dgm:pt modelId="{78CFEFCB-54A4-49B2-8B7A-633C41BC1E14}" type="sibTrans" cxnId="{A39A66CC-0136-4D03-8047-AC70AD76A097}">
      <dgm:prSet/>
      <dgm:spPr/>
      <dgm:t>
        <a:bodyPr/>
        <a:lstStyle/>
        <a:p>
          <a:endParaRPr lang="en-US"/>
        </a:p>
      </dgm:t>
    </dgm:pt>
    <dgm:pt modelId="{C3EF439A-420E-4100-AB0D-3C3875F5618C}">
      <dgm:prSet/>
      <dgm:spPr/>
      <dgm:t>
        <a:bodyPr/>
        <a:lstStyle/>
        <a:p>
          <a:pPr rtl="0"/>
          <a:r>
            <a:rPr lang="en-US" dirty="0" smtClean="0"/>
            <a:t>EXPLAINS the Principle       Vv. 5 – 11</a:t>
          </a:r>
          <a:endParaRPr lang="en-US" dirty="0"/>
        </a:p>
      </dgm:t>
    </dgm:pt>
    <dgm:pt modelId="{3852FD03-68B8-4E86-AB6F-A8F8986F55D3}" type="parTrans" cxnId="{C1B8C697-27E0-4366-9DFF-52D8451598E4}">
      <dgm:prSet/>
      <dgm:spPr/>
      <dgm:t>
        <a:bodyPr/>
        <a:lstStyle/>
        <a:p>
          <a:endParaRPr lang="en-US"/>
        </a:p>
      </dgm:t>
    </dgm:pt>
    <dgm:pt modelId="{9C3C0870-B596-4C72-B846-FDBD5E46E38C}" type="sibTrans" cxnId="{C1B8C697-27E0-4366-9DFF-52D8451598E4}">
      <dgm:prSet/>
      <dgm:spPr/>
      <dgm:t>
        <a:bodyPr/>
        <a:lstStyle/>
        <a:p>
          <a:endParaRPr lang="en-US"/>
        </a:p>
      </dgm:t>
    </dgm:pt>
    <dgm:pt modelId="{2FB9DF3B-404D-4D38-9700-F5FAF27F5299}">
      <dgm:prSet/>
      <dgm:spPr/>
      <dgm:t>
        <a:bodyPr/>
        <a:lstStyle/>
        <a:p>
          <a:pPr rtl="0"/>
          <a:r>
            <a:rPr lang="en-US" dirty="0" smtClean="0"/>
            <a:t>APPLIES the Principle       Vv. 12 - 13</a:t>
          </a:r>
          <a:endParaRPr lang="en-US" dirty="0"/>
        </a:p>
      </dgm:t>
    </dgm:pt>
    <dgm:pt modelId="{B635D951-6759-4ECC-A8CE-9E05DFB4A196}" type="parTrans" cxnId="{BBFC352E-70DA-4870-8002-2EB55057B69A}">
      <dgm:prSet/>
      <dgm:spPr/>
      <dgm:t>
        <a:bodyPr/>
        <a:lstStyle/>
        <a:p>
          <a:endParaRPr lang="en-US"/>
        </a:p>
      </dgm:t>
    </dgm:pt>
    <dgm:pt modelId="{E1874741-0EB9-4ADE-AE0E-39183EE9A9C0}" type="sibTrans" cxnId="{BBFC352E-70DA-4870-8002-2EB55057B69A}">
      <dgm:prSet/>
      <dgm:spPr/>
      <dgm:t>
        <a:bodyPr/>
        <a:lstStyle/>
        <a:p>
          <a:endParaRPr lang="en-US"/>
        </a:p>
      </dgm:t>
    </dgm:pt>
    <dgm:pt modelId="{16454A66-CA8B-46BA-9E7D-9B2C2C2D4ABA}" type="pres">
      <dgm:prSet presAssocID="{9C206592-135F-4E2C-8D87-ABC055D436D8}" presName="Name0" presStyleCnt="0">
        <dgm:presLayoutVars>
          <dgm:dir/>
          <dgm:resizeHandles val="exact"/>
        </dgm:presLayoutVars>
      </dgm:prSet>
      <dgm:spPr/>
    </dgm:pt>
    <dgm:pt modelId="{81F930BF-03F0-4C17-8EE0-FB15A14477D8}" type="pres">
      <dgm:prSet presAssocID="{9C206592-135F-4E2C-8D87-ABC055D436D8}" presName="fgShape" presStyleLbl="fgShp" presStyleIdx="0" presStyleCnt="1"/>
      <dgm:spPr/>
    </dgm:pt>
    <dgm:pt modelId="{B51C0BBA-8B48-49DE-BCEC-20241DA33EA2}" type="pres">
      <dgm:prSet presAssocID="{9C206592-135F-4E2C-8D87-ABC055D436D8}" presName="linComp" presStyleCnt="0"/>
      <dgm:spPr/>
    </dgm:pt>
    <dgm:pt modelId="{E1B7351A-22E0-494D-B5C9-E7D21973E889}" type="pres">
      <dgm:prSet presAssocID="{73D4CE13-567F-41FB-8B1C-E6E7FA066D8C}" presName="compNode" presStyleCnt="0"/>
      <dgm:spPr/>
    </dgm:pt>
    <dgm:pt modelId="{96D37372-51FB-406C-99BA-352747D56296}" type="pres">
      <dgm:prSet presAssocID="{73D4CE13-567F-41FB-8B1C-E6E7FA066D8C}" presName="bkgdShape" presStyleLbl="node1" presStyleIdx="0" presStyleCnt="4"/>
      <dgm:spPr/>
    </dgm:pt>
    <dgm:pt modelId="{350B0D37-DF7C-44B5-A0CD-8D23AB3F3DBA}" type="pres">
      <dgm:prSet presAssocID="{73D4CE13-567F-41FB-8B1C-E6E7FA066D8C}" presName="nodeTx" presStyleLbl="node1" presStyleIdx="0" presStyleCnt="4">
        <dgm:presLayoutVars>
          <dgm:bulletEnabled val="1"/>
        </dgm:presLayoutVars>
      </dgm:prSet>
      <dgm:spPr/>
    </dgm:pt>
    <dgm:pt modelId="{81912121-EF1E-41CE-B909-E7D2646B489C}" type="pres">
      <dgm:prSet presAssocID="{73D4CE13-567F-41FB-8B1C-E6E7FA066D8C}" presName="invisiNode" presStyleLbl="node1" presStyleIdx="0" presStyleCnt="4"/>
      <dgm:spPr/>
    </dgm:pt>
    <dgm:pt modelId="{7E4FD1F2-3818-4D97-BBEE-8D81D060C1A6}" type="pres">
      <dgm:prSet presAssocID="{73D4CE13-567F-41FB-8B1C-E6E7FA066D8C}" presName="imagNode" presStyleLbl="fgImgPlace1" presStyleIdx="0" presStyleCnt="4">
        <dgm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dgm:style>
      </dgm:prSet>
      <dgm:spPr/>
    </dgm:pt>
    <dgm:pt modelId="{60CDBC2E-A515-45FA-A2A6-D58D32F6822E}" type="pres">
      <dgm:prSet presAssocID="{023AEB5E-E445-4091-B9AE-7DFAFB02B6BB}" presName="sibTrans" presStyleLbl="sibTrans2D1" presStyleIdx="0" presStyleCnt="0"/>
      <dgm:spPr/>
    </dgm:pt>
    <dgm:pt modelId="{59EA8812-C48A-4CFE-A80D-D8FE06BC8DEA}" type="pres">
      <dgm:prSet presAssocID="{7E2D93E7-8DF1-43E8-B44A-BAD5208235F5}" presName="compNode" presStyleCnt="0"/>
      <dgm:spPr/>
    </dgm:pt>
    <dgm:pt modelId="{3602452E-E71C-4229-A1FF-5604D00A6D3F}" type="pres">
      <dgm:prSet presAssocID="{7E2D93E7-8DF1-43E8-B44A-BAD5208235F5}" presName="bkgdShape" presStyleLbl="node1" presStyleIdx="1" presStyleCnt="4"/>
      <dgm:spPr/>
    </dgm:pt>
    <dgm:pt modelId="{AFAD6BC0-4A1E-4082-BA64-A3BA6C6D7BF7}" type="pres">
      <dgm:prSet presAssocID="{7E2D93E7-8DF1-43E8-B44A-BAD5208235F5}" presName="nodeTx" presStyleLbl="node1" presStyleIdx="1" presStyleCnt="4">
        <dgm:presLayoutVars>
          <dgm:bulletEnabled val="1"/>
        </dgm:presLayoutVars>
      </dgm:prSet>
      <dgm:spPr/>
    </dgm:pt>
    <dgm:pt modelId="{EAFDDCD3-37D7-439E-9D83-48D69CBE5E38}" type="pres">
      <dgm:prSet presAssocID="{7E2D93E7-8DF1-43E8-B44A-BAD5208235F5}" presName="invisiNode" presStyleLbl="node1" presStyleIdx="1" presStyleCnt="4"/>
      <dgm:spPr/>
    </dgm:pt>
    <dgm:pt modelId="{54738BB2-CE00-4E5B-9697-CC5B4FF1844D}" type="pres">
      <dgm:prSet presAssocID="{7E2D93E7-8DF1-43E8-B44A-BAD5208235F5}" presName="imagNode" presStyleLbl="fgImgPlace1" presStyleIdx="1" presStyleCnt="4">
        <dgm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dgm:style>
      </dgm:prSet>
      <dgm:spPr/>
    </dgm:pt>
    <dgm:pt modelId="{5017297D-019A-4A24-BA48-406981FF5733}" type="pres">
      <dgm:prSet presAssocID="{78CFEFCB-54A4-49B2-8B7A-633C41BC1E14}" presName="sibTrans" presStyleLbl="sibTrans2D1" presStyleIdx="0" presStyleCnt="0"/>
      <dgm:spPr/>
    </dgm:pt>
    <dgm:pt modelId="{49DF30DB-2BF7-4D90-8A02-DA0EB0FA9FE6}" type="pres">
      <dgm:prSet presAssocID="{C3EF439A-420E-4100-AB0D-3C3875F5618C}" presName="compNode" presStyleCnt="0"/>
      <dgm:spPr/>
    </dgm:pt>
    <dgm:pt modelId="{D9550DD0-710A-46E6-AFD7-67BBF8587E11}" type="pres">
      <dgm:prSet presAssocID="{C3EF439A-420E-4100-AB0D-3C3875F5618C}" presName="bkgdShape" presStyleLbl="node1" presStyleIdx="2" presStyleCnt="4"/>
      <dgm:spPr/>
    </dgm:pt>
    <dgm:pt modelId="{9711CEB2-D750-428C-9560-5F955B7215EA}" type="pres">
      <dgm:prSet presAssocID="{C3EF439A-420E-4100-AB0D-3C3875F5618C}" presName="nodeTx" presStyleLbl="node1" presStyleIdx="2" presStyleCnt="4">
        <dgm:presLayoutVars>
          <dgm:bulletEnabled val="1"/>
        </dgm:presLayoutVars>
      </dgm:prSet>
      <dgm:spPr/>
    </dgm:pt>
    <dgm:pt modelId="{57120155-53B5-421F-9ACF-26F99BE7B594}" type="pres">
      <dgm:prSet presAssocID="{C3EF439A-420E-4100-AB0D-3C3875F5618C}" presName="invisiNode" presStyleLbl="node1" presStyleIdx="2" presStyleCnt="4"/>
      <dgm:spPr/>
    </dgm:pt>
    <dgm:pt modelId="{9F96DB9C-7155-4E3D-A205-D0AEA20B6098}" type="pres">
      <dgm:prSet presAssocID="{C3EF439A-420E-4100-AB0D-3C3875F5618C}" presName="imagNode" presStyleLbl="fgImgPlace1" presStyleIdx="2" presStyleCnt="4"/>
      <dgm:spPr>
        <a:solidFill>
          <a:srgbClr val="BCB3EF"/>
        </a:solidFill>
      </dgm:spPr>
    </dgm:pt>
    <dgm:pt modelId="{7AC0211A-91C2-40CA-A362-1213C68C4C1F}" type="pres">
      <dgm:prSet presAssocID="{9C3C0870-B596-4C72-B846-FDBD5E46E38C}" presName="sibTrans" presStyleLbl="sibTrans2D1" presStyleIdx="0" presStyleCnt="0"/>
      <dgm:spPr/>
    </dgm:pt>
    <dgm:pt modelId="{26DB9535-B4B7-431A-88F4-6BA0CE25D0FD}" type="pres">
      <dgm:prSet presAssocID="{2FB9DF3B-404D-4D38-9700-F5FAF27F5299}" presName="compNode" presStyleCnt="0"/>
      <dgm:spPr/>
    </dgm:pt>
    <dgm:pt modelId="{B1DC94C7-A8EA-4C77-AA50-366610AB2F45}" type="pres">
      <dgm:prSet presAssocID="{2FB9DF3B-404D-4D38-9700-F5FAF27F5299}" presName="bkgdShape" presStyleLbl="node1" presStyleIdx="3" presStyleCnt="4"/>
      <dgm:spPr/>
    </dgm:pt>
    <dgm:pt modelId="{C68F9BA8-F14A-4809-90DF-E31599959CE7}" type="pres">
      <dgm:prSet presAssocID="{2FB9DF3B-404D-4D38-9700-F5FAF27F5299}" presName="nodeTx" presStyleLbl="node1" presStyleIdx="3" presStyleCnt="4">
        <dgm:presLayoutVars>
          <dgm:bulletEnabled val="1"/>
        </dgm:presLayoutVars>
      </dgm:prSet>
      <dgm:spPr/>
    </dgm:pt>
    <dgm:pt modelId="{E9D0D55E-5140-4613-BEC6-6FDCE92B2D6F}" type="pres">
      <dgm:prSet presAssocID="{2FB9DF3B-404D-4D38-9700-F5FAF27F5299}" presName="invisiNode" presStyleLbl="node1" presStyleIdx="3" presStyleCnt="4"/>
      <dgm:spPr/>
    </dgm:pt>
    <dgm:pt modelId="{0EA037FB-1006-4C57-9E91-726F5F78EC80}" type="pres">
      <dgm:prSet presAssocID="{2FB9DF3B-404D-4D38-9700-F5FAF27F5299}" presName="imagNode" presStyleLbl="fgImgPlace1" presStyleIdx="3" presStyleCnt="4">
        <dgm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dgm:style>
      </dgm:prSet>
      <dgm:spPr/>
    </dgm:pt>
  </dgm:ptLst>
  <dgm:cxnLst>
    <dgm:cxn modelId="{E4072596-3E51-491E-8ED0-502ADE5EDB4B}" type="presOf" srcId="{7E2D93E7-8DF1-43E8-B44A-BAD5208235F5}" destId="{3602452E-E71C-4229-A1FF-5604D00A6D3F}" srcOrd="0" destOrd="0" presId="urn:microsoft.com/office/officeart/2005/8/layout/hList7"/>
    <dgm:cxn modelId="{37A3CE72-6C10-43E9-80B5-68499A3D29E4}" type="presOf" srcId="{023AEB5E-E445-4091-B9AE-7DFAFB02B6BB}" destId="{60CDBC2E-A515-45FA-A2A6-D58D32F6822E}" srcOrd="0" destOrd="0" presId="urn:microsoft.com/office/officeart/2005/8/layout/hList7"/>
    <dgm:cxn modelId="{A39A66CC-0136-4D03-8047-AC70AD76A097}" srcId="{9C206592-135F-4E2C-8D87-ABC055D436D8}" destId="{7E2D93E7-8DF1-43E8-B44A-BAD5208235F5}" srcOrd="1" destOrd="0" parTransId="{F04E6C58-0915-44E1-BE62-CDB7479CBF03}" sibTransId="{78CFEFCB-54A4-49B2-8B7A-633C41BC1E14}"/>
    <dgm:cxn modelId="{45E14D17-AD9F-4576-ADC1-A8A10A4AECAA}" type="presOf" srcId="{C3EF439A-420E-4100-AB0D-3C3875F5618C}" destId="{9711CEB2-D750-428C-9560-5F955B7215EA}" srcOrd="1" destOrd="0" presId="urn:microsoft.com/office/officeart/2005/8/layout/hList7"/>
    <dgm:cxn modelId="{A773BB06-258F-46F6-95F5-EB0E1237CB3F}" type="presOf" srcId="{7E2D93E7-8DF1-43E8-B44A-BAD5208235F5}" destId="{AFAD6BC0-4A1E-4082-BA64-A3BA6C6D7BF7}" srcOrd="1" destOrd="0" presId="urn:microsoft.com/office/officeart/2005/8/layout/hList7"/>
    <dgm:cxn modelId="{BBFC352E-70DA-4870-8002-2EB55057B69A}" srcId="{9C206592-135F-4E2C-8D87-ABC055D436D8}" destId="{2FB9DF3B-404D-4D38-9700-F5FAF27F5299}" srcOrd="3" destOrd="0" parTransId="{B635D951-6759-4ECC-A8CE-9E05DFB4A196}" sibTransId="{E1874741-0EB9-4ADE-AE0E-39183EE9A9C0}"/>
    <dgm:cxn modelId="{D401DF06-AC34-4BC6-96B7-A92AF9D41039}" srcId="{9C206592-135F-4E2C-8D87-ABC055D436D8}" destId="{73D4CE13-567F-41FB-8B1C-E6E7FA066D8C}" srcOrd="0" destOrd="0" parTransId="{781661E0-5C17-4C87-B727-E2018382EF05}" sibTransId="{023AEB5E-E445-4091-B9AE-7DFAFB02B6BB}"/>
    <dgm:cxn modelId="{1D986D79-790C-4859-9E4F-C04C4F94DDBE}" type="presOf" srcId="{73D4CE13-567F-41FB-8B1C-E6E7FA066D8C}" destId="{96D37372-51FB-406C-99BA-352747D56296}" srcOrd="0" destOrd="0" presId="urn:microsoft.com/office/officeart/2005/8/layout/hList7"/>
    <dgm:cxn modelId="{C1B8C697-27E0-4366-9DFF-52D8451598E4}" srcId="{9C206592-135F-4E2C-8D87-ABC055D436D8}" destId="{C3EF439A-420E-4100-AB0D-3C3875F5618C}" srcOrd="2" destOrd="0" parTransId="{3852FD03-68B8-4E86-AB6F-A8F8986F55D3}" sibTransId="{9C3C0870-B596-4C72-B846-FDBD5E46E38C}"/>
    <dgm:cxn modelId="{FF6DFC46-DB3E-445B-9D81-80D894EEF2C5}" type="presOf" srcId="{78CFEFCB-54A4-49B2-8B7A-633C41BC1E14}" destId="{5017297D-019A-4A24-BA48-406981FF5733}" srcOrd="0" destOrd="0" presId="urn:microsoft.com/office/officeart/2005/8/layout/hList7"/>
    <dgm:cxn modelId="{48604C9C-57CA-48B8-B9F7-DD5BE236A554}" type="presOf" srcId="{73D4CE13-567F-41FB-8B1C-E6E7FA066D8C}" destId="{350B0D37-DF7C-44B5-A0CD-8D23AB3F3DBA}" srcOrd="1" destOrd="0" presId="urn:microsoft.com/office/officeart/2005/8/layout/hList7"/>
    <dgm:cxn modelId="{11C1FEC9-0BFE-41A9-B504-4B65280310BB}" type="presOf" srcId="{9C206592-135F-4E2C-8D87-ABC055D436D8}" destId="{16454A66-CA8B-46BA-9E7D-9B2C2C2D4ABA}" srcOrd="0" destOrd="0" presId="urn:microsoft.com/office/officeart/2005/8/layout/hList7"/>
    <dgm:cxn modelId="{74C87584-464E-4D47-91C8-6CD50EC82051}" type="presOf" srcId="{2FB9DF3B-404D-4D38-9700-F5FAF27F5299}" destId="{C68F9BA8-F14A-4809-90DF-E31599959CE7}" srcOrd="1" destOrd="0" presId="urn:microsoft.com/office/officeart/2005/8/layout/hList7"/>
    <dgm:cxn modelId="{E871F117-21D4-4DC8-A18B-00DEA2F3B524}" type="presOf" srcId="{9C3C0870-B596-4C72-B846-FDBD5E46E38C}" destId="{7AC0211A-91C2-40CA-A362-1213C68C4C1F}" srcOrd="0" destOrd="0" presId="urn:microsoft.com/office/officeart/2005/8/layout/hList7"/>
    <dgm:cxn modelId="{A7A43D66-A9AB-41B5-A3BA-67DEBE8CCEF1}" type="presOf" srcId="{2FB9DF3B-404D-4D38-9700-F5FAF27F5299}" destId="{B1DC94C7-A8EA-4C77-AA50-366610AB2F45}" srcOrd="0" destOrd="0" presId="urn:microsoft.com/office/officeart/2005/8/layout/hList7"/>
    <dgm:cxn modelId="{9890F252-ADDD-4E25-9A7C-5F4AA6C5A9D7}" type="presOf" srcId="{C3EF439A-420E-4100-AB0D-3C3875F5618C}" destId="{D9550DD0-710A-46E6-AFD7-67BBF8587E11}" srcOrd="0" destOrd="0" presId="urn:microsoft.com/office/officeart/2005/8/layout/hList7"/>
    <dgm:cxn modelId="{6A79DEE9-93EC-46E9-8ABF-0AA81C43C914}" type="presParOf" srcId="{16454A66-CA8B-46BA-9E7D-9B2C2C2D4ABA}" destId="{81F930BF-03F0-4C17-8EE0-FB15A14477D8}" srcOrd="0" destOrd="0" presId="urn:microsoft.com/office/officeart/2005/8/layout/hList7"/>
    <dgm:cxn modelId="{9AD7188D-430F-493C-ACDA-CC4A3D86924D}" type="presParOf" srcId="{16454A66-CA8B-46BA-9E7D-9B2C2C2D4ABA}" destId="{B51C0BBA-8B48-49DE-BCEC-20241DA33EA2}" srcOrd="1" destOrd="0" presId="urn:microsoft.com/office/officeart/2005/8/layout/hList7"/>
    <dgm:cxn modelId="{A827F3EC-8ADC-44C7-816E-616D57F59AB9}" type="presParOf" srcId="{B51C0BBA-8B48-49DE-BCEC-20241DA33EA2}" destId="{E1B7351A-22E0-494D-B5C9-E7D21973E889}" srcOrd="0" destOrd="0" presId="urn:microsoft.com/office/officeart/2005/8/layout/hList7"/>
    <dgm:cxn modelId="{02DE5846-AA32-4225-B92F-44E0AC84CC1E}" type="presParOf" srcId="{E1B7351A-22E0-494D-B5C9-E7D21973E889}" destId="{96D37372-51FB-406C-99BA-352747D56296}" srcOrd="0" destOrd="0" presId="urn:microsoft.com/office/officeart/2005/8/layout/hList7"/>
    <dgm:cxn modelId="{4AEBE180-7739-405D-998B-D4BD612A2117}" type="presParOf" srcId="{E1B7351A-22E0-494D-B5C9-E7D21973E889}" destId="{350B0D37-DF7C-44B5-A0CD-8D23AB3F3DBA}" srcOrd="1" destOrd="0" presId="urn:microsoft.com/office/officeart/2005/8/layout/hList7"/>
    <dgm:cxn modelId="{B6DB472E-846B-4D45-A2AC-0A23FFE2D019}" type="presParOf" srcId="{E1B7351A-22E0-494D-B5C9-E7D21973E889}" destId="{81912121-EF1E-41CE-B909-E7D2646B489C}" srcOrd="2" destOrd="0" presId="urn:microsoft.com/office/officeart/2005/8/layout/hList7"/>
    <dgm:cxn modelId="{09E59B9B-129F-49A1-ACB3-D75DE50E9F4D}" type="presParOf" srcId="{E1B7351A-22E0-494D-B5C9-E7D21973E889}" destId="{7E4FD1F2-3818-4D97-BBEE-8D81D060C1A6}" srcOrd="3" destOrd="0" presId="urn:microsoft.com/office/officeart/2005/8/layout/hList7"/>
    <dgm:cxn modelId="{727FD024-843F-4EF5-B191-5494BCEDAF07}" type="presParOf" srcId="{B51C0BBA-8B48-49DE-BCEC-20241DA33EA2}" destId="{60CDBC2E-A515-45FA-A2A6-D58D32F6822E}" srcOrd="1" destOrd="0" presId="urn:microsoft.com/office/officeart/2005/8/layout/hList7"/>
    <dgm:cxn modelId="{46E889EB-D377-4962-846E-D2DC2575B239}" type="presParOf" srcId="{B51C0BBA-8B48-49DE-BCEC-20241DA33EA2}" destId="{59EA8812-C48A-4CFE-A80D-D8FE06BC8DEA}" srcOrd="2" destOrd="0" presId="urn:microsoft.com/office/officeart/2005/8/layout/hList7"/>
    <dgm:cxn modelId="{F543B887-6F08-4462-B510-A2E7858CDB77}" type="presParOf" srcId="{59EA8812-C48A-4CFE-A80D-D8FE06BC8DEA}" destId="{3602452E-E71C-4229-A1FF-5604D00A6D3F}" srcOrd="0" destOrd="0" presId="urn:microsoft.com/office/officeart/2005/8/layout/hList7"/>
    <dgm:cxn modelId="{2DA9F447-748A-49AE-9F86-716EF967C0AB}" type="presParOf" srcId="{59EA8812-C48A-4CFE-A80D-D8FE06BC8DEA}" destId="{AFAD6BC0-4A1E-4082-BA64-A3BA6C6D7BF7}" srcOrd="1" destOrd="0" presId="urn:microsoft.com/office/officeart/2005/8/layout/hList7"/>
    <dgm:cxn modelId="{2D46A783-A1B6-44BF-BC81-C8BA95F5D755}" type="presParOf" srcId="{59EA8812-C48A-4CFE-A80D-D8FE06BC8DEA}" destId="{EAFDDCD3-37D7-439E-9D83-48D69CBE5E38}" srcOrd="2" destOrd="0" presId="urn:microsoft.com/office/officeart/2005/8/layout/hList7"/>
    <dgm:cxn modelId="{A5030C1A-8146-46EB-B8E1-AEE4FC4F68DA}" type="presParOf" srcId="{59EA8812-C48A-4CFE-A80D-D8FE06BC8DEA}" destId="{54738BB2-CE00-4E5B-9697-CC5B4FF1844D}" srcOrd="3" destOrd="0" presId="urn:microsoft.com/office/officeart/2005/8/layout/hList7"/>
    <dgm:cxn modelId="{8D38AE56-C551-4B90-8A72-F7EC410BBDE5}" type="presParOf" srcId="{B51C0BBA-8B48-49DE-BCEC-20241DA33EA2}" destId="{5017297D-019A-4A24-BA48-406981FF5733}" srcOrd="3" destOrd="0" presId="urn:microsoft.com/office/officeart/2005/8/layout/hList7"/>
    <dgm:cxn modelId="{2051709A-2435-4D91-82DF-8B4C6171A89E}" type="presParOf" srcId="{B51C0BBA-8B48-49DE-BCEC-20241DA33EA2}" destId="{49DF30DB-2BF7-4D90-8A02-DA0EB0FA9FE6}" srcOrd="4" destOrd="0" presId="urn:microsoft.com/office/officeart/2005/8/layout/hList7"/>
    <dgm:cxn modelId="{74034346-01E7-4E93-A4B2-5238C04F68C4}" type="presParOf" srcId="{49DF30DB-2BF7-4D90-8A02-DA0EB0FA9FE6}" destId="{D9550DD0-710A-46E6-AFD7-67BBF8587E11}" srcOrd="0" destOrd="0" presId="urn:microsoft.com/office/officeart/2005/8/layout/hList7"/>
    <dgm:cxn modelId="{5F56A117-D2F8-47FF-A9F0-069427FEAFEF}" type="presParOf" srcId="{49DF30DB-2BF7-4D90-8A02-DA0EB0FA9FE6}" destId="{9711CEB2-D750-428C-9560-5F955B7215EA}" srcOrd="1" destOrd="0" presId="urn:microsoft.com/office/officeart/2005/8/layout/hList7"/>
    <dgm:cxn modelId="{2BA84264-CD93-4A36-BC61-418C76B78A25}" type="presParOf" srcId="{49DF30DB-2BF7-4D90-8A02-DA0EB0FA9FE6}" destId="{57120155-53B5-421F-9ACF-26F99BE7B594}" srcOrd="2" destOrd="0" presId="urn:microsoft.com/office/officeart/2005/8/layout/hList7"/>
    <dgm:cxn modelId="{4569B53D-C093-42B2-850C-A2AB55B8BE21}" type="presParOf" srcId="{49DF30DB-2BF7-4D90-8A02-DA0EB0FA9FE6}" destId="{9F96DB9C-7155-4E3D-A205-D0AEA20B6098}" srcOrd="3" destOrd="0" presId="urn:microsoft.com/office/officeart/2005/8/layout/hList7"/>
    <dgm:cxn modelId="{807DB173-21D8-4FE6-B87D-054623D093EF}" type="presParOf" srcId="{B51C0BBA-8B48-49DE-BCEC-20241DA33EA2}" destId="{7AC0211A-91C2-40CA-A362-1213C68C4C1F}" srcOrd="5" destOrd="0" presId="urn:microsoft.com/office/officeart/2005/8/layout/hList7"/>
    <dgm:cxn modelId="{17E0C3D1-9FFB-441A-A8E5-5EF2E0C0C4B7}" type="presParOf" srcId="{B51C0BBA-8B48-49DE-BCEC-20241DA33EA2}" destId="{26DB9535-B4B7-431A-88F4-6BA0CE25D0FD}" srcOrd="6" destOrd="0" presId="urn:microsoft.com/office/officeart/2005/8/layout/hList7"/>
    <dgm:cxn modelId="{D6D0CA8C-C75E-4146-BE05-B19C6466EDC4}" type="presParOf" srcId="{26DB9535-B4B7-431A-88F4-6BA0CE25D0FD}" destId="{B1DC94C7-A8EA-4C77-AA50-366610AB2F45}" srcOrd="0" destOrd="0" presId="urn:microsoft.com/office/officeart/2005/8/layout/hList7"/>
    <dgm:cxn modelId="{6AF32953-99A4-45C6-B007-D98B1E237B51}" type="presParOf" srcId="{26DB9535-B4B7-431A-88F4-6BA0CE25D0FD}" destId="{C68F9BA8-F14A-4809-90DF-E31599959CE7}" srcOrd="1" destOrd="0" presId="urn:microsoft.com/office/officeart/2005/8/layout/hList7"/>
    <dgm:cxn modelId="{93131641-AAB3-4B8F-A39D-34822901861C}" type="presParOf" srcId="{26DB9535-B4B7-431A-88F4-6BA0CE25D0FD}" destId="{E9D0D55E-5140-4613-BEC6-6FDCE92B2D6F}" srcOrd="2" destOrd="0" presId="urn:microsoft.com/office/officeart/2005/8/layout/hList7"/>
    <dgm:cxn modelId="{3C9D7E25-4009-47EF-9831-46BCBB0DA338}" type="presParOf" srcId="{26DB9535-B4B7-431A-88F4-6BA0CE25D0FD}" destId="{0EA037FB-1006-4C57-9E91-726F5F78EC80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D37372-51FB-406C-99BA-352747D56296}">
      <dsp:nvSpPr>
        <dsp:cNvPr id="0" name=""/>
        <dsp:cNvSpPr/>
      </dsp:nvSpPr>
      <dsp:spPr>
        <a:xfrm>
          <a:off x="2543" y="0"/>
          <a:ext cx="2665847" cy="480381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lvl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INTRODUCES the Principle – V. 1</a:t>
          </a:r>
          <a:endParaRPr lang="en-US" sz="2800" kern="1200" dirty="0"/>
        </a:p>
      </dsp:txBody>
      <dsp:txXfrm>
        <a:off x="2543" y="1921528"/>
        <a:ext cx="2665847" cy="1921528"/>
      </dsp:txXfrm>
    </dsp:sp>
    <dsp:sp modelId="{7E4FD1F2-3818-4D97-BBEE-8D81D060C1A6}">
      <dsp:nvSpPr>
        <dsp:cNvPr id="0" name=""/>
        <dsp:cNvSpPr/>
      </dsp:nvSpPr>
      <dsp:spPr>
        <a:xfrm>
          <a:off x="535631" y="288229"/>
          <a:ext cx="1599672" cy="1599672"/>
        </a:xfrm>
        <a:prstGeom prst="ellipse">
          <a:avLst/>
        </a:prstGeom>
        <a:solidFill>
          <a:schemeClr val="accent3"/>
        </a:solidFill>
        <a:ln w="15875" cap="flat" cmpd="sng" algn="ctr">
          <a:solidFill>
            <a:schemeClr val="accent3">
              <a:shade val="50000"/>
            </a:schemeClr>
          </a:solidFill>
          <a:prstDash val="solid"/>
        </a:ln>
        <a:effectLst/>
      </dsp:spPr>
      <dsp:style>
        <a:lnRef idx="2">
          <a:schemeClr val="accent3">
            <a:shade val="50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dsp:style>
    </dsp:sp>
    <dsp:sp modelId="{3602452E-E71C-4229-A1FF-5604D00A6D3F}">
      <dsp:nvSpPr>
        <dsp:cNvPr id="0" name=""/>
        <dsp:cNvSpPr/>
      </dsp:nvSpPr>
      <dsp:spPr>
        <a:xfrm>
          <a:off x="2748366" y="0"/>
          <a:ext cx="2665847" cy="480381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lvl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smtClean="0"/>
            <a:t>ILLUSTRATES the Principle Vv. 2 – 4</a:t>
          </a:r>
          <a:endParaRPr lang="en-US" sz="2800" kern="1200"/>
        </a:p>
      </dsp:txBody>
      <dsp:txXfrm>
        <a:off x="2748366" y="1921528"/>
        <a:ext cx="2665847" cy="1921528"/>
      </dsp:txXfrm>
    </dsp:sp>
    <dsp:sp modelId="{54738BB2-CE00-4E5B-9697-CC5B4FF1844D}">
      <dsp:nvSpPr>
        <dsp:cNvPr id="0" name=""/>
        <dsp:cNvSpPr/>
      </dsp:nvSpPr>
      <dsp:spPr>
        <a:xfrm>
          <a:off x="3281454" y="288229"/>
          <a:ext cx="1599672" cy="1599672"/>
        </a:xfrm>
        <a:prstGeom prst="ellipse">
          <a:avLst/>
        </a:prstGeom>
        <a:solidFill>
          <a:schemeClr val="accent2"/>
        </a:solidFill>
        <a:ln w="15875" cap="flat" cmpd="sng" algn="ctr">
          <a:solidFill>
            <a:schemeClr val="accent2">
              <a:shade val="50000"/>
            </a:schemeClr>
          </a:solidFill>
          <a:prstDash val="solid"/>
        </a:ln>
        <a:effectLst/>
      </dsp:spPr>
      <dsp:style>
        <a:lnRef idx="2">
          <a:schemeClr val="accent2">
            <a:shade val="50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dsp:style>
    </dsp:sp>
    <dsp:sp modelId="{D9550DD0-710A-46E6-AFD7-67BBF8587E11}">
      <dsp:nvSpPr>
        <dsp:cNvPr id="0" name=""/>
        <dsp:cNvSpPr/>
      </dsp:nvSpPr>
      <dsp:spPr>
        <a:xfrm>
          <a:off x="5494190" y="0"/>
          <a:ext cx="2665847" cy="480381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lvl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EXPLAINS the Principle       Vv. 5 – 11</a:t>
          </a:r>
          <a:endParaRPr lang="en-US" sz="2800" kern="1200" dirty="0"/>
        </a:p>
      </dsp:txBody>
      <dsp:txXfrm>
        <a:off x="5494190" y="1921528"/>
        <a:ext cx="2665847" cy="1921528"/>
      </dsp:txXfrm>
    </dsp:sp>
    <dsp:sp modelId="{9F96DB9C-7155-4E3D-A205-D0AEA20B6098}">
      <dsp:nvSpPr>
        <dsp:cNvPr id="0" name=""/>
        <dsp:cNvSpPr/>
      </dsp:nvSpPr>
      <dsp:spPr>
        <a:xfrm>
          <a:off x="6027278" y="288229"/>
          <a:ext cx="1599672" cy="1599672"/>
        </a:xfrm>
        <a:prstGeom prst="ellipse">
          <a:avLst/>
        </a:prstGeom>
        <a:solidFill>
          <a:srgbClr val="BCB3EF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DC94C7-A8EA-4C77-AA50-366610AB2F45}">
      <dsp:nvSpPr>
        <dsp:cNvPr id="0" name=""/>
        <dsp:cNvSpPr/>
      </dsp:nvSpPr>
      <dsp:spPr>
        <a:xfrm>
          <a:off x="8240013" y="0"/>
          <a:ext cx="2665847" cy="480381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lvl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APPLIES the Principle       Vv. 12 - 13</a:t>
          </a:r>
          <a:endParaRPr lang="en-US" sz="2800" kern="1200" dirty="0"/>
        </a:p>
      </dsp:txBody>
      <dsp:txXfrm>
        <a:off x="8240013" y="1921528"/>
        <a:ext cx="2665847" cy="1921528"/>
      </dsp:txXfrm>
    </dsp:sp>
    <dsp:sp modelId="{0EA037FB-1006-4C57-9E91-726F5F78EC80}">
      <dsp:nvSpPr>
        <dsp:cNvPr id="0" name=""/>
        <dsp:cNvSpPr/>
      </dsp:nvSpPr>
      <dsp:spPr>
        <a:xfrm>
          <a:off x="8773101" y="288229"/>
          <a:ext cx="1599672" cy="1599672"/>
        </a:xfrm>
        <a:prstGeom prst="ellipse">
          <a:avLst/>
        </a:prstGeom>
        <a:blipFill>
          <a:blip xmlns:r="http://schemas.openxmlformats.org/officeDocument/2006/relationships" r:embed="rId1">
            <a:duotone>
              <a:schemeClr val="accent6">
                <a:shade val="74000"/>
                <a:satMod val="130000"/>
                <a:lumMod val="90000"/>
              </a:schemeClr>
              <a:schemeClr val="accent6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outerShdw blurRad="38100" dist="25400" dir="5400000" rotWithShape="0">
            <a:srgbClr val="000000">
              <a:alpha val="60000"/>
            </a:srgbClr>
          </a:outerShdw>
        </a:effectLst>
      </dsp:spPr>
      <dsp:style>
        <a:lnRef idx="0">
          <a:schemeClr val="accent6"/>
        </a:lnRef>
        <a:fillRef idx="3">
          <a:schemeClr val="accent6"/>
        </a:fillRef>
        <a:effectRef idx="3">
          <a:schemeClr val="accent6"/>
        </a:effectRef>
        <a:fontRef idx="minor">
          <a:schemeClr val="lt1"/>
        </a:fontRef>
      </dsp:style>
    </dsp:sp>
    <dsp:sp modelId="{81F930BF-03F0-4C17-8EE0-FB15A14477D8}">
      <dsp:nvSpPr>
        <dsp:cNvPr id="0" name=""/>
        <dsp:cNvSpPr/>
      </dsp:nvSpPr>
      <dsp:spPr>
        <a:xfrm>
          <a:off x="436336" y="3843056"/>
          <a:ext cx="10035732" cy="720573"/>
        </a:xfrm>
        <a:prstGeom prst="leftRight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21-Sep-24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21-Sep-24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21-Sep-24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21-Sep-24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21-Sep-24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21-Sep-24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21-Sep-24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21-Sep-24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21-Sep-24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21-Sep-24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21-Sep-24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21-Sep-24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21-Sep-24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21-Sep-24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21-Sep-24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21-Sep-24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21-Sep-24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ashVert">
          <a:fgClr>
            <a:schemeClr val="accent1"/>
          </a:fgClr>
          <a:bgClr>
            <a:srgbClr val="FF0000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21-Sep-24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ransition spd="slow">
    <p:push/>
  </p:transition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759855" y="643945"/>
            <a:ext cx="10740979" cy="1648494"/>
          </a:xfrm>
        </p:spPr>
        <p:txBody>
          <a:bodyPr>
            <a:normAutofit/>
          </a:bodyPr>
          <a:lstStyle/>
          <a:p>
            <a:r>
              <a:rPr lang="en-US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AIC EGERTON CHAPEL</a:t>
            </a:r>
            <a:endParaRPr lang="en-US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759856" y="2550017"/>
            <a:ext cx="10740978" cy="3374265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8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SUNDAY</a:t>
            </a:r>
          </a:p>
          <a:p>
            <a:pPr marL="0" indent="0" algn="ctr">
              <a:buNone/>
            </a:pPr>
            <a:r>
              <a:rPr lang="en-US" sz="8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22.09</a:t>
            </a:r>
            <a:r>
              <a:rPr lang="en-US" sz="8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2024</a:t>
            </a:r>
            <a:endParaRPr lang="en-US" sz="8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0110939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31065" y="982663"/>
            <a:ext cx="10998557" cy="4954498"/>
          </a:xfrm>
        </p:spPr>
        <p:txBody>
          <a:bodyPr>
            <a:normAutofit fontScale="90000"/>
          </a:bodyPr>
          <a:lstStyle/>
          <a:p>
            <a:r>
              <a:rPr lang="en-US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JAMES </a:t>
            </a:r>
            <a: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2: 1 </a:t>
            </a:r>
            <a: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0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821570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540914"/>
            <a:ext cx="9601196" cy="824247"/>
          </a:xfrm>
        </p:spPr>
        <p:txBody>
          <a:bodyPr>
            <a:noAutofit/>
          </a:bodyPr>
          <a:lstStyle/>
          <a:p>
            <a:r>
              <a:rPr lang="en-US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6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034" y="1365161"/>
            <a:ext cx="11101589" cy="4726546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7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September Theme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7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Phil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2:3 </a:t>
            </a:r>
            <a:r>
              <a:rPr lang="en-US" sz="7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Humility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7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Our Nature Putting </a:t>
            </a: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US" sz="7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Masks - Hypocrisy</a:t>
            </a:r>
          </a:p>
        </p:txBody>
      </p:sp>
    </p:spTree>
    <p:extLst>
      <p:ext uri="{BB962C8B-B14F-4D97-AF65-F5344CB8AC3E}">
        <p14:creationId xmlns:p14="http://schemas.microsoft.com/office/powerpoint/2010/main" val="1363444329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476518"/>
            <a:ext cx="9601196" cy="695459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Samuel Johnson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6721" y="1171978"/>
            <a:ext cx="10998558" cy="5012984"/>
          </a:xfrm>
        </p:spPr>
        <p:txBody>
          <a:bodyPr>
            <a:normAutofit fontScale="85000" lnSpcReduction="10000"/>
          </a:bodyPr>
          <a:lstStyle/>
          <a:p>
            <a:pPr marL="0" lvl="0" indent="0" algn="ctr">
              <a:buClr>
                <a:srgbClr val="AB946B"/>
              </a:buClr>
              <a:buNone/>
            </a:pPr>
            <a:r>
              <a:rPr lang="en-US" sz="88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“A true measure of a man is how he </a:t>
            </a:r>
            <a:r>
              <a:rPr lang="en-US" sz="8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TREATS</a:t>
            </a:r>
            <a:r>
              <a:rPr lang="en-US" sz="88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someone who can do him absolutely </a:t>
            </a:r>
            <a:r>
              <a:rPr lang="en-US" sz="8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GOOD</a:t>
            </a:r>
            <a:r>
              <a:rPr lang="en-US" sz="88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US" sz="88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45733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509452"/>
            <a:ext cx="9601196" cy="95358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sz="7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766" y="746975"/>
            <a:ext cx="11038114" cy="5275001"/>
          </a:xfrm>
        </p:spPr>
        <p:txBody>
          <a:bodyPr>
            <a:normAutofit fontScale="77500" lnSpcReduction="20000"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9600" b="1" dirty="0" smtClean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Real Test of Humility is When  Our Faith is </a:t>
            </a:r>
            <a:r>
              <a:rPr lang="en-US" sz="9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PRESSED</a:t>
            </a:r>
            <a:r>
              <a:rPr lang="en-US" sz="9600" b="1" dirty="0" smtClean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by  </a:t>
            </a:r>
            <a:r>
              <a:rPr lang="en-US" sz="7700" b="1" dirty="0" smtClean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FAVOURITISM/PREJUDICE/PARTIALITY/WRONG ATTITUTES</a:t>
            </a:r>
            <a:endParaRPr lang="en-US" sz="7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396544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6651" y="561704"/>
            <a:ext cx="10345783" cy="713304"/>
          </a:xfrm>
        </p:spPr>
        <p:txBody>
          <a:bodyPr>
            <a:no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 </a:t>
            </a: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Suffer</a:t>
            </a:r>
            <a:r>
              <a:rPr lang="en-US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Benefit</a:t>
            </a:r>
            <a:r>
              <a:rPr lang="en-US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from 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FAVOURITISM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7830" y="1275008"/>
            <a:ext cx="11090364" cy="4893972"/>
          </a:xfrm>
        </p:spPr>
        <p:txBody>
          <a:bodyPr>
            <a:noAutofit/>
          </a:bodyPr>
          <a:lstStyle/>
          <a:p>
            <a:pPr algn="just"/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Favoritism/Partiality is to </a:t>
            </a:r>
            <a:r>
              <a:rPr lang="en-US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give Preference </a:t>
            </a: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one </a:t>
            </a:r>
            <a:r>
              <a:rPr lang="en-US" sz="4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4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</a:t>
            </a: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Given position/Something that you don’t deserve – NEPOTISM/TRIBE/DENOMINATION</a:t>
            </a:r>
          </a:p>
          <a:p>
            <a:pPr algn="just"/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Hospital –You know the doctor you don’t wait</a:t>
            </a:r>
            <a:endParaRPr lang="en-US" sz="4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1425340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4096" y="528035"/>
            <a:ext cx="10715222" cy="605306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Our WORLD is filled with </a:t>
            </a:r>
            <a:r>
              <a:rPr lang="en-US" sz="53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Favoritism</a:t>
            </a: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2428" y="1133341"/>
            <a:ext cx="10998557" cy="4932608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Based on</a:t>
            </a:r>
            <a:r>
              <a:rPr lang="en-US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IQ - </a:t>
            </a:r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or Dumb</a:t>
            </a:r>
            <a:r>
              <a:rPr lang="en-US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Color of Skin- Black or White; Hairy or Bald; Good looking or Ugly; Good smell or Bad Smell; Poor or Rich; Tall or Short; Voice- </a:t>
            </a: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Sounded when </a:t>
            </a: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talked; </a:t>
            </a: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LOOKS</a:t>
            </a:r>
            <a:endParaRPr lang="en-US" sz="4800" dirty="0" smtClean="0">
              <a:solidFill>
                <a:srgbClr val="00132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990601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4248" y="386366"/>
            <a:ext cx="10380372" cy="798490"/>
          </a:xfrm>
        </p:spPr>
        <p:txBody>
          <a:bodyPr>
            <a:noAutofit/>
          </a:bodyPr>
          <a:lstStyle/>
          <a:p>
            <a:pPr algn="l"/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BEAUTY INDUSTRY - </a:t>
            </a: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has its </a:t>
            </a:r>
            <a:r>
              <a:rPr lang="en-US" sz="36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Special privileges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1065" y="1184856"/>
            <a:ext cx="10972799" cy="4945488"/>
          </a:xfrm>
        </p:spPr>
        <p:txBody>
          <a:bodyPr>
            <a:normAutofit lnSpcReduction="10000"/>
          </a:bodyPr>
          <a:lstStyle/>
          <a:p>
            <a:pPr marL="57150" marR="0" indent="-3429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3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Studies </a:t>
            </a: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reliably show that </a:t>
            </a:r>
            <a:r>
              <a:rPr lang="en-US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most physically attractive among us </a:t>
            </a: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tend to </a:t>
            </a:r>
            <a:r>
              <a:rPr lang="en-US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get more attention </a:t>
            </a: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 </a:t>
            </a:r>
            <a:r>
              <a:rPr lang="en-US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parents</a:t>
            </a: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better grades in school</a:t>
            </a: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more money at work</a:t>
            </a: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and </a:t>
            </a:r>
            <a:r>
              <a:rPr lang="en-US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more satisfaction from life</a:t>
            </a: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en-US" sz="36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marR="0" indent="-3429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3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study published in the </a:t>
            </a:r>
            <a:r>
              <a:rPr lang="en-US" sz="36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Journal of Economics and Business</a:t>
            </a: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found that </a:t>
            </a:r>
            <a:r>
              <a:rPr lang="en-US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good-looking banking CEOs </a:t>
            </a: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take in over </a:t>
            </a:r>
            <a:r>
              <a:rPr lang="en-US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$1 million more </a:t>
            </a: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 total compensation, on average, than their </a:t>
            </a:r>
            <a:r>
              <a:rPr lang="en-US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lesser-looking peers</a:t>
            </a: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3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“Good looks pay off,”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5765389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86367"/>
            <a:ext cx="9601196" cy="734096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Looks</a:t>
            </a:r>
            <a:r>
              <a:rPr lang="en-US" dirty="0" smtClean="0"/>
              <a:t> can be </a:t>
            </a:r>
            <a:r>
              <a:rPr lang="en-US" dirty="0" smtClean="0">
                <a:solidFill>
                  <a:srgbClr val="FF0000"/>
                </a:solidFill>
              </a:rPr>
              <a:t>Deceptive</a:t>
            </a:r>
            <a:r>
              <a:rPr lang="en-US" dirty="0" smtClean="0"/>
              <a:t>: Soda Bottle Cake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2732" y="1120463"/>
            <a:ext cx="10792495" cy="475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899189"/>
      </p:ext>
    </p:extLst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7882" y="528035"/>
            <a:ext cx="11153104" cy="5705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00472"/>
      </p:ext>
    </p:extLst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463640"/>
            <a:ext cx="9601196" cy="862884"/>
          </a:xfrm>
        </p:spPr>
        <p:txBody>
          <a:bodyPr>
            <a:normAutofit/>
          </a:bodyPr>
          <a:lstStyle/>
          <a:p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Tweet on this Image of Shoe Cake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6824" y="1416676"/>
            <a:ext cx="10908404" cy="445919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“The Year is 2030. Bakery cake is  so realistic. Literally anything could be cake. The uncertainty has gripped the World in fear. I go to hug my wife for comfort. She is cake’’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6637828"/>
      </p:ext>
    </p:extLst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540914"/>
            <a:ext cx="9601196" cy="502275"/>
          </a:xfrm>
        </p:spPr>
        <p:txBody>
          <a:bodyPr>
            <a:normAutofit fontScale="90000"/>
          </a:bodyPr>
          <a:lstStyle/>
          <a:p>
            <a:pPr algn="l"/>
            <a:r>
              <a:rPr lang="en-US" sz="4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5307" y="1184856"/>
            <a:ext cx="11062952" cy="4855336"/>
          </a:xfrm>
        </p:spPr>
        <p:txBody>
          <a:bodyPr>
            <a:normAutofit/>
          </a:bodyPr>
          <a:lstStyle/>
          <a:p>
            <a:pPr lvl="0" algn="just">
              <a:buClr>
                <a:srgbClr val="AB946B"/>
              </a:buClr>
            </a:pPr>
            <a:r>
              <a:rPr lang="en-US" sz="88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Sometimes it is difficult </a:t>
            </a:r>
            <a:r>
              <a:rPr lang="en-US" sz="8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know </a:t>
            </a:r>
            <a:r>
              <a:rPr lang="en-US" sz="88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</a:t>
            </a:r>
            <a:r>
              <a:rPr lang="en-US" sz="8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beneath</a:t>
            </a:r>
            <a:r>
              <a:rPr lang="en-US" sz="88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surface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260904"/>
      </p:ext>
    </p:extLst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25004"/>
            <a:ext cx="10030095" cy="1090288"/>
          </a:xfrm>
        </p:spPr>
        <p:txBody>
          <a:bodyPr>
            <a:noAutofit/>
          </a:bodyPr>
          <a:lstStyle/>
          <a:p>
            <a:r>
              <a:rPr lang="en-US" sz="7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James </a:t>
            </a:r>
            <a:r>
              <a:rPr lang="en-US" sz="7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2:1-13</a:t>
            </a:r>
            <a:endParaRPr lang="en-US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15291"/>
            <a:ext cx="11051177" cy="4585063"/>
          </a:xfrm>
        </p:spPr>
        <p:txBody>
          <a:bodyPr>
            <a:noAutofit/>
          </a:bodyPr>
          <a:lstStyle/>
          <a:p>
            <a:pPr lvl="0" algn="just"/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James </a:t>
            </a: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Reminds us that there are </a:t>
            </a: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TIMES when our Faith is </a:t>
            </a: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PRESSED</a:t>
            </a: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by </a:t>
            </a: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FAVOURITISM</a:t>
            </a: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DISCRIMINATION</a:t>
            </a: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PARTIALITY</a:t>
            </a: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PREJUDICE</a:t>
            </a: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CHAUVINISM</a:t>
            </a: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the Outside </a:t>
            </a:r>
            <a:r>
              <a:rPr lang="en-US" sz="4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LOOKS</a:t>
            </a:r>
            <a:endParaRPr lang="en-US" sz="4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1202575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86366"/>
            <a:ext cx="9601196" cy="72121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James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2:1-13 - Layout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4817609"/>
              </p:ext>
            </p:extLst>
          </p:nvPr>
        </p:nvGraphicFramePr>
        <p:xfrm>
          <a:off x="631064" y="1223493"/>
          <a:ext cx="10908405" cy="48038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08548804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0526" y="548640"/>
            <a:ext cx="10646228" cy="966651"/>
          </a:xfrm>
        </p:spPr>
        <p:txBody>
          <a:bodyPr>
            <a:noAutofit/>
          </a:bodyPr>
          <a:lstStyle/>
          <a:p>
            <a:r>
              <a:rPr lang="en-US" sz="8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James Teaches </a:t>
            </a:r>
            <a:r>
              <a:rPr lang="en-US" sz="8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 that </a:t>
            </a: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751527"/>
            <a:ext cx="10946674" cy="4124341"/>
          </a:xfrm>
        </p:spPr>
        <p:txBody>
          <a:bodyPr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Faith in Christ and Favoritism or Partiality</a:t>
            </a:r>
            <a:r>
              <a:rPr lang="en-US" sz="12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are </a:t>
            </a:r>
            <a:r>
              <a:rPr lang="en-US" sz="12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INCOMPARTIBLE</a:t>
            </a:r>
            <a:endParaRPr lang="en-US" sz="12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7596324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1262" y="522514"/>
            <a:ext cx="10787744" cy="816890"/>
          </a:xfrm>
        </p:spPr>
        <p:txBody>
          <a:bodyPr>
            <a:noAutofit/>
          </a:bodyPr>
          <a:lstStyle/>
          <a:p>
            <a:pPr algn="l"/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Favoritism or Partiality</a:t>
            </a:r>
            <a:endParaRPr lang="en-US" sz="8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674254"/>
            <a:ext cx="10998925" cy="4533363"/>
          </a:xfrm>
        </p:spPr>
        <p:txBody>
          <a:bodyPr>
            <a:normAutofit fontScale="62500" lnSpcReduction="20000"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8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prosōpolē</a:t>
            </a:r>
            <a:r>
              <a:rPr lang="en-US" sz="8000" b="1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psia</a:t>
            </a:r>
            <a:r>
              <a:rPr lang="en-US" sz="8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-comes from two other words:  </a:t>
            </a:r>
            <a:r>
              <a:rPr lang="en-US" sz="8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prosopon</a:t>
            </a:r>
            <a:r>
              <a:rPr 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{“face”) and </a:t>
            </a:r>
            <a:r>
              <a:rPr lang="en-US" sz="8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lambanō</a:t>
            </a:r>
            <a:r>
              <a:rPr 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(“take, receive”) </a:t>
            </a:r>
            <a:endParaRPr lang="en-US" sz="80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person </a:t>
            </a: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shows </a:t>
            </a:r>
            <a:r>
              <a:rPr lang="en-US" sz="8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Favoritism</a:t>
            </a:r>
            <a:r>
              <a:rPr lang="en-US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8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Partiality</a:t>
            </a:r>
            <a:r>
              <a:rPr lang="en-US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decides </a:t>
            </a:r>
            <a:r>
              <a:rPr lang="en-US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treat/respect </a:t>
            </a: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person by looking at his or her face</a:t>
            </a:r>
            <a:endParaRPr lang="en-US" sz="8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6583927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231820"/>
            <a:ext cx="9601196" cy="875763"/>
          </a:xfrm>
        </p:spPr>
        <p:txBody>
          <a:bodyPr>
            <a:normAutofit fontScale="90000"/>
          </a:bodyPr>
          <a:lstStyle/>
          <a:p>
            <a:r>
              <a:rPr lang="en-US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9549" y="798490"/>
            <a:ext cx="11178861" cy="5409127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4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give </a:t>
            </a:r>
            <a:r>
              <a:rPr lang="en-US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judgment </a:t>
            </a:r>
            <a:r>
              <a:rPr lang="en-US" sz="4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respect </a:t>
            </a:r>
            <a:r>
              <a:rPr lang="en-US" sz="4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</a:t>
            </a:r>
            <a:r>
              <a:rPr lang="en-US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outward circumstances </a:t>
            </a:r>
            <a:r>
              <a:rPr lang="en-US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man and not to their </a:t>
            </a:r>
            <a:r>
              <a:rPr lang="en-US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intrinsic </a:t>
            </a:r>
            <a:r>
              <a:rPr lang="en-US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merits</a:t>
            </a:r>
            <a:r>
              <a:rPr lang="en-US" sz="4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4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Prefers </a:t>
            </a:r>
            <a:r>
              <a:rPr lang="en-US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en-US" sz="4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 </a:t>
            </a:r>
            <a:r>
              <a:rPr lang="en-US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worthy, </a:t>
            </a:r>
            <a:r>
              <a:rPr lang="en-US" sz="4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rich</a:t>
            </a:r>
            <a:r>
              <a:rPr lang="en-US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4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powerful, to another who does not have these qualities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3385184166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509453"/>
            <a:ext cx="10095409" cy="546616"/>
          </a:xfrm>
        </p:spPr>
        <p:txBody>
          <a:bodyPr>
            <a:noAutofit/>
          </a:bodyPr>
          <a:lstStyle/>
          <a:p>
            <a:r>
              <a:rPr lang="en-US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James 2:1</a:t>
            </a: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6206" y="1215396"/>
            <a:ext cx="10920547" cy="4979341"/>
          </a:xfrm>
        </p:spPr>
        <p:txBody>
          <a:bodyPr>
            <a:noAutofit/>
          </a:bodyPr>
          <a:lstStyle/>
          <a:p>
            <a:pPr marL="57150" marR="0" indent="-342900" algn="just"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“My brothers, </a:t>
            </a:r>
            <a:r>
              <a:rPr lang="en-US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 believers/do 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hold your faith in our glorious Lord Jesus Christ with </a:t>
            </a:r>
            <a:r>
              <a:rPr lang="en-US" sz="60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attitude of </a:t>
            </a:r>
            <a:r>
              <a:rPr lang="en-US" sz="6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personal favoritism”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  <a:p>
            <a:pPr marL="57150" marR="0" indent="-342900" algn="just"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Rom.2:11;Ephes.6:9; Gal. 2:6</a:t>
            </a:r>
            <a:r>
              <a:rPr lang="en-US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92364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581" y="373488"/>
            <a:ext cx="10959920" cy="824247"/>
          </a:xfrm>
        </p:spPr>
        <p:txBody>
          <a:bodyPr>
            <a:noAutofit/>
          </a:bodyPr>
          <a:lstStyle/>
          <a:p>
            <a:pPr algn="just"/>
            <a:r>
              <a:rPr lang="en-US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Cont’d</a:t>
            </a:r>
            <a:endParaRPr lang="en-US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9549" y="1197735"/>
            <a:ext cx="11062952" cy="5087155"/>
          </a:xfrm>
        </p:spPr>
        <p:txBody>
          <a:bodyPr>
            <a:noAutofit/>
          </a:bodyPr>
          <a:lstStyle/>
          <a:p>
            <a:pPr lvl="0" algn="ctr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can you </a:t>
            </a:r>
            <a:r>
              <a:rPr lang="en-US" sz="6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claim to have Genuine Faith</a:t>
            </a:r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sz="6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our </a:t>
            </a:r>
            <a:r>
              <a:rPr lang="en-US" sz="6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Glorious  </a:t>
            </a:r>
            <a:r>
              <a:rPr lang="en-US" sz="66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Savior Jesus Christ</a:t>
            </a:r>
            <a:r>
              <a:rPr lang="en-US" sz="6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6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Continue</a:t>
            </a:r>
            <a:r>
              <a:rPr lang="en-US" sz="6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Showing </a:t>
            </a:r>
            <a:r>
              <a:rPr lang="en-US" sz="6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Favoritism</a:t>
            </a:r>
            <a:r>
              <a:rPr lang="en-US" sz="6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 </a:t>
            </a:r>
            <a:r>
              <a:rPr lang="en-US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Face or Appearance?</a:t>
            </a:r>
            <a:endParaRPr lang="en-US" sz="5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2419583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7279" y="463639"/>
            <a:ext cx="10612191" cy="566672"/>
          </a:xfrm>
        </p:spPr>
        <p:txBody>
          <a:bodyPr>
            <a:noAutofit/>
          </a:bodyPr>
          <a:lstStyle/>
          <a:p>
            <a:r>
              <a:rPr lang="en-US" sz="8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Illustration Vv. 2-4 </a:t>
            </a:r>
            <a:endParaRPr lang="en-US" sz="8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6670" y="1249252"/>
            <a:ext cx="11075831" cy="490685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Two People to – Church/Synagogue</a:t>
            </a:r>
          </a:p>
          <a:p>
            <a:pPr marL="0" indent="0" algn="just">
              <a:buNone/>
            </a:pPr>
            <a:r>
              <a:rPr lang="en-US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Dripping with Wealth – Best seat</a:t>
            </a:r>
          </a:p>
          <a:p>
            <a:pPr marL="0" indent="0" algn="just">
              <a:buNone/>
            </a:pPr>
            <a:r>
              <a:rPr lang="en-US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Dripping with Poverty – sit in the corner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4811894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553792"/>
            <a:ext cx="9601196" cy="553791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/>
              <a:t>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3944" y="1481070"/>
            <a:ext cx="10908405" cy="4394798"/>
          </a:xfrm>
        </p:spPr>
        <p:txBody>
          <a:bodyPr>
            <a:normAutofit lnSpcReduction="10000"/>
          </a:bodyPr>
          <a:lstStyle/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72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 make distinctions based on </a:t>
            </a:r>
            <a:r>
              <a:rPr lang="en-US" sz="72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wealth</a:t>
            </a:r>
            <a:r>
              <a:rPr lang="en-US" sz="72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ignoring the more important </a:t>
            </a:r>
            <a:r>
              <a:rPr lang="en-US" sz="72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realities of faith and character.</a:t>
            </a:r>
            <a:r>
              <a:rPr lang="en-US" sz="7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0339990"/>
      </p:ext>
    </p:extLst>
  </p:cSld>
  <p:clrMapOvr>
    <a:masterClrMapping/>
  </p:clrMapOvr>
  <p:transition spd="slow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8491" y="540913"/>
            <a:ext cx="10599312" cy="1519707"/>
          </a:xfrm>
        </p:spPr>
        <p:txBody>
          <a:bodyPr>
            <a:noAutofit/>
          </a:bodyPr>
          <a:lstStyle/>
          <a:p>
            <a:pPr algn="l"/>
            <a:r>
              <a:rPr lang="en-US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James Gave 3 Reasons WHY this behavior should STOP</a:t>
            </a:r>
            <a:endParaRPr lang="en-US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9549" y="2150772"/>
            <a:ext cx="11024316" cy="3725096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7200" b="1" dirty="0" smtClean="0">
                <a:ln w="3175" cmpd="sng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 </a:t>
            </a:r>
            <a:r>
              <a:rPr lang="en-US" sz="7200" b="1" dirty="0" smtClean="0">
                <a:ln w="3175" cmpd="sng">
                  <a:noFill/>
                </a:ln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</a:t>
            </a:r>
            <a:r>
              <a:rPr lang="en-US" sz="7200" b="1" dirty="0" smtClean="0">
                <a:ln w="3175" cmpd="sng">
                  <a:noFill/>
                </a:ln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INCONSISTENT </a:t>
            </a:r>
            <a:r>
              <a:rPr lang="en-US" sz="7200" b="1" dirty="0" smtClean="0">
                <a:ln w="3175" cmpd="sng">
                  <a:noFill/>
                </a:ln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God’s </a:t>
            </a:r>
            <a:r>
              <a:rPr lang="en-US" sz="7200" b="1" dirty="0" smtClean="0">
                <a:ln w="3175" cmpd="sng">
                  <a:noFill/>
                </a:ln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 </a:t>
            </a:r>
          </a:p>
          <a:p>
            <a:pPr marL="0" indent="0">
              <a:buNone/>
            </a:pPr>
            <a:r>
              <a:rPr lang="en-US" sz="7200" b="1" dirty="0">
                <a:ln w="3175" cmpd="sng">
                  <a:noFill/>
                </a:ln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b="1" dirty="0" smtClean="0">
                <a:ln w="3175" cmpd="sng">
                  <a:noFill/>
                </a:ln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US" sz="7200" b="1" dirty="0" smtClean="0">
                <a:ln w="3175" cmpd="sng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V. 5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589792213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9855" y="373487"/>
            <a:ext cx="10869770" cy="695459"/>
          </a:xfrm>
        </p:spPr>
        <p:txBody>
          <a:bodyPr>
            <a:noAutofit/>
          </a:bodyPr>
          <a:lstStyle/>
          <a:p>
            <a:pPr algn="l"/>
            <a:r>
              <a:rPr lang="en-US" sz="4800" b="1" dirty="0" smtClean="0">
                <a:solidFill>
                  <a:srgbClr val="4548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GOD IS IMPARTIAL</a:t>
            </a:r>
            <a:endParaRPr lang="en-US" sz="4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278" y="1197736"/>
            <a:ext cx="11127346" cy="4997002"/>
          </a:xfrm>
        </p:spPr>
        <p:txBody>
          <a:bodyPr>
            <a:noAutofit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US" sz="4000" dirty="0" smtClean="0">
                <a:solidFill>
                  <a:srgbClr val="4548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</a:t>
            </a:r>
            <a:r>
              <a:rPr lang="en-US" sz="4000" dirty="0">
                <a:solidFill>
                  <a:srgbClr val="4548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comes to </a:t>
            </a:r>
            <a:r>
              <a:rPr lang="en-US" sz="4000" b="1" dirty="0" smtClean="0">
                <a:solidFill>
                  <a:srgbClr val="4548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JUDGMENT</a:t>
            </a:r>
            <a:r>
              <a:rPr lang="en-US" sz="4000" dirty="0" smtClean="0">
                <a:solidFill>
                  <a:srgbClr val="4548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Rom. 2:11</a:t>
            </a:r>
          </a:p>
          <a:p>
            <a:pPr marL="514350" indent="-514350" algn="just" fontAlgn="base">
              <a:buFont typeface="+mj-lt"/>
              <a:buAutoNum type="arabicPeriod"/>
            </a:pPr>
            <a:r>
              <a:rPr lang="en-US" sz="4000" dirty="0" smtClean="0">
                <a:solidFill>
                  <a:srgbClr val="4548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4000" b="1" dirty="0" smtClean="0">
                <a:solidFill>
                  <a:srgbClr val="4548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HOLDING US ACCOUNTABLE </a:t>
            </a:r>
            <a:r>
              <a:rPr lang="en-US" sz="4000" dirty="0" smtClean="0">
                <a:solidFill>
                  <a:srgbClr val="4548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4000" dirty="0">
                <a:solidFill>
                  <a:srgbClr val="4548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way we treat </a:t>
            </a:r>
            <a:r>
              <a:rPr lang="en-US" sz="4000" dirty="0" smtClean="0">
                <a:solidFill>
                  <a:srgbClr val="4548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others - Ephes. 6:9</a:t>
            </a:r>
          </a:p>
          <a:p>
            <a:pPr marL="514350" indent="-514350" algn="just" fontAlgn="base">
              <a:buFont typeface="+mj-lt"/>
              <a:buAutoNum type="arabicPeriod"/>
            </a:pPr>
            <a:r>
              <a:rPr lang="en-US" sz="4000" dirty="0">
                <a:solidFill>
                  <a:srgbClr val="4548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Jesus was impartial in </a:t>
            </a:r>
            <a:r>
              <a:rPr lang="en-US" sz="4000" b="1" dirty="0" smtClean="0">
                <a:solidFill>
                  <a:srgbClr val="4548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SPEAKING THE TRUTH </a:t>
            </a:r>
            <a:r>
              <a:rPr lang="en-US" sz="4000" dirty="0" smtClean="0">
                <a:solidFill>
                  <a:srgbClr val="4548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4000" dirty="0">
                <a:solidFill>
                  <a:srgbClr val="4548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all.</a:t>
            </a:r>
          </a:p>
          <a:p>
            <a:pPr marL="514350" indent="-514350" algn="just" fontAlgn="base">
              <a:buFont typeface="+mj-lt"/>
              <a:buAutoNum type="arabicPeriod"/>
            </a:pPr>
            <a:r>
              <a:rPr lang="en-US" sz="4000" dirty="0">
                <a:solidFill>
                  <a:srgbClr val="4548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 of all, </a:t>
            </a:r>
            <a:r>
              <a:rPr lang="en-US" sz="4000" dirty="0" smtClean="0">
                <a:solidFill>
                  <a:srgbClr val="4548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4000" b="1" dirty="0" smtClean="0">
                <a:solidFill>
                  <a:srgbClr val="4548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OFFERING SALVATION TO ALL</a:t>
            </a:r>
            <a:r>
              <a:rPr lang="en-US" sz="4000" dirty="0" smtClean="0">
                <a:solidFill>
                  <a:srgbClr val="4548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4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James 2:5</a:t>
            </a:r>
            <a:endParaRPr lang="en-US" sz="72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1612563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763" y="528035"/>
            <a:ext cx="10753860" cy="940158"/>
          </a:xfrm>
        </p:spPr>
        <p:txBody>
          <a:bodyPr>
            <a:noAutofit/>
          </a:bodyPr>
          <a:lstStyle/>
          <a:p>
            <a:pPr algn="just"/>
            <a:r>
              <a:rPr lang="en-US" sz="4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It Denies the Universality of Sin V. 6</a:t>
            </a:r>
            <a:endParaRPr lang="en-US" sz="4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3792" y="1468192"/>
            <a:ext cx="11075831" cy="4726545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rich find it difficult to identify with the Lord Jesus who came as a humble servant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God views all people as equal, if he favors anyone, it is the poor and the powerless. We should follow His example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8559766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540913"/>
            <a:ext cx="10179674" cy="1262129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It is </a:t>
            </a:r>
            <a:r>
              <a:rPr lang="en-US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INCONSISTENT with Scripture </a:t>
            </a:r>
            <a:r>
              <a:rPr lang="en-US" sz="48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(Vv. 8 -11)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9549" y="1918952"/>
            <a:ext cx="11024316" cy="4185633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5400" b="1" dirty="0" smtClean="0">
                <a:ln w="3175" cmpd="sng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Royal Law – Lev.19:18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5400" b="1" dirty="0" smtClean="0">
                <a:ln w="3175" cmpd="sng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Christ reinforced in Matt. 22:37-40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5400" b="1" dirty="0" smtClean="0">
                <a:ln w="3175" cmpd="sng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Paul in Romans 13:8</a:t>
            </a:r>
            <a:endParaRPr lang="en-US" sz="5400" b="1" dirty="0" smtClean="0">
              <a:ln w="3175" cmpd="sng">
                <a:noFill/>
              </a:ln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4183229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7278" y="450761"/>
            <a:ext cx="10367493" cy="685708"/>
          </a:xfrm>
        </p:spPr>
        <p:txBody>
          <a:bodyPr>
            <a:noAutofit/>
          </a:bodyPr>
          <a:lstStyle/>
          <a:p>
            <a:pPr algn="just"/>
            <a:r>
              <a:rPr lang="en-US" sz="54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Let Mercy be our Message V. 12</a:t>
            </a:r>
            <a:endParaRPr lang="en-US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3944" y="1519706"/>
            <a:ext cx="10934163" cy="4623517"/>
          </a:xfrm>
        </p:spPr>
        <p:txBody>
          <a:bodyPr>
            <a:normAutofit fontScale="92500" lnSpcReduction="10000"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6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deserved DEATH but God by His Grace and Mercy - Forgave</a:t>
            </a:r>
            <a:endParaRPr lang="en-US" sz="6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6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must all stand before Christ to be Judged – 2 Cor. 5:10</a:t>
            </a:r>
            <a:endParaRPr lang="en-US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2831707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8540" y="270456"/>
            <a:ext cx="9601196" cy="798490"/>
          </a:xfrm>
        </p:spPr>
        <p:txBody>
          <a:bodyPr>
            <a:noAutofit/>
          </a:bodyPr>
          <a:lstStyle/>
          <a:p>
            <a:r>
              <a:rPr lang="en-US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9270" y="1068946"/>
            <a:ext cx="10959736" cy="51773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 believers we should not or STOP showing 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Favoritism          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Because </a:t>
            </a:r>
            <a:endParaRPr lang="en-US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sz="3600" b="1" dirty="0">
                <a:ln w="3175" cmpd="sng">
                  <a:noFill/>
                </a:ln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</a:t>
            </a:r>
            <a:r>
              <a:rPr lang="en-US" sz="3600" b="1" dirty="0">
                <a:ln w="3175" cmpd="sng">
                  <a:noFill/>
                </a:ln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INCONSISTENT </a:t>
            </a:r>
            <a:r>
              <a:rPr lang="en-US" sz="3600" b="1" dirty="0">
                <a:ln w="3175" cmpd="sng">
                  <a:noFill/>
                </a:ln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God’s </a:t>
            </a:r>
            <a:r>
              <a:rPr lang="en-US" sz="3600" b="1" dirty="0" smtClean="0">
                <a:ln w="3175" cmpd="sng">
                  <a:noFill/>
                </a:ln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METHOD-  </a:t>
            </a:r>
            <a:r>
              <a:rPr lang="en-US" sz="3600" b="1" dirty="0">
                <a:ln w="3175" cmpd="sng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V. </a:t>
            </a:r>
            <a:r>
              <a:rPr lang="en-US" sz="3600" b="1" dirty="0" smtClean="0">
                <a:ln w="3175" cmpd="sng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 - Let love be your Law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DENIES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UNIVERSALITY OF SIN V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6 -  ------</a:t>
            </a:r>
            <a:r>
              <a:rPr lang="en-US" sz="3600" b="1" dirty="0" smtClean="0">
                <a:ln w="3175" cmpd="sng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Let Mercy </a:t>
            </a:r>
            <a:r>
              <a:rPr lang="en-US" sz="3600" b="1" dirty="0">
                <a:ln w="3175" cmpd="sng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 your </a:t>
            </a:r>
            <a:r>
              <a:rPr lang="en-US" sz="3600" b="1" dirty="0" smtClean="0">
                <a:ln w="3175" cmpd="sng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Message</a:t>
            </a:r>
            <a:endParaRPr lang="en-US" sz="36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sz="36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INCONSISTENT with Scripture </a:t>
            </a:r>
            <a:r>
              <a:rPr lang="en-US" sz="36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(Vv. 8 -11</a:t>
            </a:r>
            <a:r>
              <a:rPr lang="en-US" sz="36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– ---Let Scripture be your Standard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8509405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AB946B"/>
      </a:accent1>
      <a:accent2>
        <a:srgbClr val="C04F32"/>
      </a:accent2>
      <a:accent3>
        <a:srgbClr val="DD8C3C"/>
      </a:accent3>
      <a:accent4>
        <a:srgbClr val="8E684C"/>
      </a:accent4>
      <a:accent5>
        <a:srgbClr val="CBAF62"/>
      </a:accent5>
      <a:accent6>
        <a:srgbClr val="803348"/>
      </a:accent6>
      <a:hlink>
        <a:srgbClr val="86724D"/>
      </a:hlink>
      <a:folHlink>
        <a:srgbClr val="B99E84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A2BEDC8B-F191-493B-BA33-0F4F800A89D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10660</TotalTime>
  <Words>783</Words>
  <Application>Microsoft Office PowerPoint</Application>
  <PresentationFormat>Widescreen</PresentationFormat>
  <Paragraphs>75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Calibri</vt:lpstr>
      <vt:lpstr>Garamond</vt:lpstr>
      <vt:lpstr>Times New Roman</vt:lpstr>
      <vt:lpstr>Wingdings</vt:lpstr>
      <vt:lpstr>Organic</vt:lpstr>
      <vt:lpstr>AIC EGERTON CHAPEL</vt:lpstr>
      <vt:lpstr> JAMES 2: 1 - 13  </vt:lpstr>
      <vt:lpstr>INTRODUCTION</vt:lpstr>
      <vt:lpstr>Samuel Johnson</vt:lpstr>
      <vt:lpstr> </vt:lpstr>
      <vt:lpstr>We Suffer and Benefit from FAVOURITISM</vt:lpstr>
      <vt:lpstr> Our WORLD is filled with Favoritism </vt:lpstr>
      <vt:lpstr>BEAUTY INDUSTRY - has its Special privileges</vt:lpstr>
      <vt:lpstr>Looks can be Deceptive: Soda Bottle Cake</vt:lpstr>
      <vt:lpstr>PowerPoint Presentation</vt:lpstr>
      <vt:lpstr>Tweet on this Image of Shoe Cake</vt:lpstr>
      <vt:lpstr>Cont’d</vt:lpstr>
      <vt:lpstr>James 2:1-13</vt:lpstr>
      <vt:lpstr>James 2:1-13 - Layout</vt:lpstr>
      <vt:lpstr>James Teaches us that </vt:lpstr>
      <vt:lpstr>Favoritism or Partiality</vt:lpstr>
      <vt:lpstr> </vt:lpstr>
      <vt:lpstr>James 2:1</vt:lpstr>
      <vt:lpstr>Cont’d</vt:lpstr>
      <vt:lpstr>Illustration Vv. 2-4 </vt:lpstr>
      <vt:lpstr>Cont’d</vt:lpstr>
      <vt:lpstr>James Gave 3 Reasons WHY this behavior should STOP</vt:lpstr>
      <vt:lpstr>GOD IS IMPARTIAL</vt:lpstr>
      <vt:lpstr>2. It Denies the Universality of Sin V. 6</vt:lpstr>
      <vt:lpstr>3. It is INCONSISTENT with Scripture (Vv. 8 -11)</vt:lpstr>
      <vt:lpstr>Let Mercy be our Message V. 12</vt:lpstr>
      <vt:lpstr>Conclusion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 EGERTON CHAPEL</dc:title>
  <dc:creator>Hp</dc:creator>
  <cp:lastModifiedBy>Hp</cp:lastModifiedBy>
  <cp:revision>211</cp:revision>
  <dcterms:created xsi:type="dcterms:W3CDTF">2024-06-23T04:26:32Z</dcterms:created>
  <dcterms:modified xsi:type="dcterms:W3CDTF">2024-09-22T03:40:53Z</dcterms:modified>
</cp:coreProperties>
</file>